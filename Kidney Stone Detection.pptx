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6"/>
  </p:notesMasterIdLst>
  <p:handoutMasterIdLst>
    <p:handoutMasterId r:id="rId17"/>
  </p:handoutMasterIdLst>
  <p:sldIdLst>
    <p:sldId id="257" r:id="rId5"/>
    <p:sldId id="389" r:id="rId6"/>
    <p:sldId id="317" r:id="rId7"/>
    <p:sldId id="391" r:id="rId8"/>
    <p:sldId id="395" r:id="rId9"/>
    <p:sldId id="396" r:id="rId10"/>
    <p:sldId id="397" r:id="rId11"/>
    <p:sldId id="398" r:id="rId12"/>
    <p:sldId id="399" r:id="rId13"/>
    <p:sldId id="401" r:id="rId14"/>
    <p:sldId id="3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440"/>
    <a:srgbClr val="455C43"/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29" autoAdjust="0"/>
    <p:restoredTop sz="93725" autoAdjust="0"/>
  </p:normalViewPr>
  <p:slideViewPr>
    <p:cSldViewPr snapToGrid="0">
      <p:cViewPr varScale="1">
        <p:scale>
          <a:sx n="70" d="100"/>
          <a:sy n="70" d="100"/>
        </p:scale>
        <p:origin x="756" y="6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1911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F2C1D-F243-42AB-ADF2-E7CB4E04900E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CDBB5-5B4A-4483-935D-A73935186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CE34E-5667-4A32-A6BA-10C7A552BC63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CE34D-CFF1-4FFE-815B-D050E7ED2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5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anchor="b" anchorCtr="0">
            <a:noAutofit/>
          </a:bodyPr>
          <a:lstStyle/>
          <a:p>
            <a:r>
              <a:rPr lang="en-US" sz="4800" dirty="0"/>
              <a:t>3DFloat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anchor="b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anchor="t" anchorCtr="0">
            <a:noAutofit/>
          </a:bodyPr>
          <a:lstStyle>
            <a:lvl1pPr>
              <a:buNone/>
              <a:defRPr/>
            </a:lvl1pPr>
          </a:lstStyle>
          <a:p>
            <a:pPr>
              <a:lnSpc>
                <a:spcPct val="120000"/>
              </a:lnSpc>
            </a:pPr>
            <a:r>
              <a:rPr lang="en-US" sz="1600" dirty="0"/>
              <a:t>Click to add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 anchorCtr="0">
            <a:no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>
            <a:noAutofit/>
          </a:bodyPr>
          <a:lstStyle>
            <a:lvl1pPr>
              <a:buNone/>
              <a:defRPr sz="2400"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anchor="b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Title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>
            <a:noAutofit/>
          </a:bodyPr>
          <a:lstStyle/>
          <a:p>
            <a:r>
              <a:rPr lang="en-US" dirty="0"/>
              <a:t>Team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7" name="Picture Placeholder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8" name="Picture Placeholder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>
            <a:noAutofit/>
          </a:bodyPr>
          <a:lstStyle>
            <a:lvl1pPr>
              <a:buNone/>
              <a:defRPr sz="2400"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414" y="1051551"/>
            <a:ext cx="3565524" cy="2384898"/>
          </a:xfrm>
        </p:spPr>
        <p:txBody>
          <a:bodyPr anchor="b" anchorCtr="0">
            <a:normAutofit/>
          </a:bodyPr>
          <a:lstStyle/>
          <a:p>
            <a:r>
              <a:rPr lang="en-US" dirty="0"/>
              <a:t>Kidney Stone Detection</a:t>
            </a:r>
          </a:p>
        </p:txBody>
      </p:sp>
      <p:pic>
        <p:nvPicPr>
          <p:cNvPr id="14" name="Picture Placeholder 13" descr="Data Points Digital background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452360" cy="685800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>
            <a:normAutofit/>
          </a:bodyPr>
          <a:lstStyle/>
          <a:p>
            <a:r>
              <a:rPr lang="en-US" dirty="0"/>
              <a:t>S. M. Abbas Zaidi</a:t>
            </a: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6426E-F6F6-4A7C-9181-8C309099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60D6F-4D0F-4D33-B2A7-159C8583F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677306"/>
            <a:ext cx="3565525" cy="163356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listo MT" panose="02040603050505030304" pitchFamily="18" charset="0"/>
                <a:ea typeface="Cambria" panose="02040503050406030204" pitchFamily="18" charset="0"/>
              </a:rPr>
              <a:t>Collection of Data Set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listo MT" panose="02040603050505030304" pitchFamily="18" charset="0"/>
                <a:ea typeface="Cambria" panose="02040503050406030204" pitchFamily="18" charset="0"/>
              </a:rPr>
              <a:t>CNN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listo MT" panose="02040603050505030304" pitchFamily="18" charset="0"/>
                <a:ea typeface="Cambria" panose="02040503050406030204" pitchFamily="18" charset="0"/>
              </a:rPr>
              <a:t>GUI</a:t>
            </a:r>
          </a:p>
        </p:txBody>
      </p:sp>
      <p:pic>
        <p:nvPicPr>
          <p:cNvPr id="8" name="Picture Placeholder 7" descr="Digital Data">
            <a:extLst>
              <a:ext uri="{FF2B5EF4-FFF2-40B4-BE49-F238E27FC236}">
                <a16:creationId xmlns:a16="http://schemas.microsoft.com/office/drawing/2014/main" id="{06D2324F-3B7B-45EF-9584-C8EADD2C8C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8928" y="1596771"/>
            <a:ext cx="3448558" cy="3448558"/>
          </a:xfrm>
        </p:spPr>
      </p:pic>
      <p:pic>
        <p:nvPicPr>
          <p:cNvPr id="10" name="Picture Placeholder 9" descr="Data Points ">
            <a:extLst>
              <a:ext uri="{FF2B5EF4-FFF2-40B4-BE49-F238E27FC236}">
                <a16:creationId xmlns:a16="http://schemas.microsoft.com/office/drawing/2014/main" id="{71F862F9-0E8A-4DB9-8083-1C3AA6E5D7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18575" y="596392"/>
            <a:ext cx="2263776" cy="2263776"/>
          </a:xfrm>
        </p:spPr>
      </p:pic>
      <p:pic>
        <p:nvPicPr>
          <p:cNvPr id="12" name="Picture Placeholder 11" descr="Data Background">
            <a:extLst>
              <a:ext uri="{FF2B5EF4-FFF2-40B4-BE49-F238E27FC236}">
                <a16:creationId xmlns:a16="http://schemas.microsoft.com/office/drawing/2014/main" id="{A63F39B9-0715-40B5-8ECB-9B983F99C69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1612" y="3324733"/>
            <a:ext cx="2936876" cy="2936876"/>
          </a:xfr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199C97-F175-437D-8311-DB66292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3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Placeholder 7" descr="Data Points Digital background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3C64A91D-E535-4C24-A0E3-96A3810E3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FC4867-BA3E-4F8E-AB23-684F34DF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169" y="-487807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Dataset Collection</a:t>
            </a:r>
            <a:endParaRPr lang="en-US" sz="6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4BDCF583-1D5D-4235-97C2-39272B80A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422" y="3242490"/>
            <a:ext cx="5437187" cy="2265216"/>
          </a:xfrm>
        </p:spPr>
        <p:txBody>
          <a:bodyPr vert="horz" wrap="square" lIns="0" tIns="0" rIns="0" bIns="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kern="1200" dirty="0">
                <a:latin typeface="+mn-lt"/>
                <a:ea typeface="+mn-ea"/>
                <a:cs typeface="+mn-cs"/>
              </a:rPr>
              <a:t>Our dataset consist of CT images with two classes Normal and Stone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Source: Kaggle.com</a:t>
            </a:r>
            <a:r>
              <a:rPr lang="en-US" kern="1200" dirty="0">
                <a:latin typeface="+mn-lt"/>
                <a:ea typeface="+mn-ea"/>
                <a:cs typeface="+mn-cs"/>
              </a:rPr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D98D-6710-41D2-B258-E1A1059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3</a:t>
            </a:fld>
            <a:endParaRPr lang="en-US"/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C04470AA-47F6-B5B1-99ED-B1FDFE76F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1789" y="4189832"/>
            <a:ext cx="2240685" cy="2240685"/>
          </a:xfrm>
          <a:prstGeom prst="rect">
            <a:avLst/>
          </a:prstGeom>
        </p:spPr>
      </p:pic>
      <p:pic>
        <p:nvPicPr>
          <p:cNvPr id="17" name="Picture 16" descr="A close-up of a skeleton&#10;&#10;Description automatically generated with low confidence">
            <a:extLst>
              <a:ext uri="{FF2B5EF4-FFF2-40B4-BE49-F238E27FC236}">
                <a16:creationId xmlns:a16="http://schemas.microsoft.com/office/drawing/2014/main" id="{17BDE46C-DC19-D536-6F8A-B1A6EBE219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016" y="4189832"/>
            <a:ext cx="2772933" cy="2245717"/>
          </a:xfrm>
          <a:prstGeom prst="rect">
            <a:avLst/>
          </a:prstGeom>
        </p:spPr>
      </p:pic>
      <p:pic>
        <p:nvPicPr>
          <p:cNvPr id="19" name="Picture 18" descr="A picture containing text&#10;&#10;Description automatically generated">
            <a:extLst>
              <a:ext uri="{FF2B5EF4-FFF2-40B4-BE49-F238E27FC236}">
                <a16:creationId xmlns:a16="http://schemas.microsoft.com/office/drawing/2014/main" id="{DF4AE98D-8839-40A3-2909-EE3EC2D335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016" y="1274795"/>
            <a:ext cx="2775565" cy="2245717"/>
          </a:xfrm>
          <a:prstGeom prst="rect">
            <a:avLst/>
          </a:prstGeom>
        </p:spPr>
      </p:pic>
      <p:pic>
        <p:nvPicPr>
          <p:cNvPr id="21" name="Picture 20" descr="A close-up of a coin&#10;&#10;Description automatically generated with low confidence">
            <a:extLst>
              <a:ext uri="{FF2B5EF4-FFF2-40B4-BE49-F238E27FC236}">
                <a16:creationId xmlns:a16="http://schemas.microsoft.com/office/drawing/2014/main" id="{E86627B2-2E29-90E4-F0C9-4A3A676151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7293" y="1270569"/>
            <a:ext cx="2235182" cy="2235182"/>
          </a:xfrm>
          <a:prstGeom prst="rect">
            <a:avLst/>
          </a:prstGeom>
        </p:spPr>
      </p:pic>
      <p:sp>
        <p:nvSpPr>
          <p:cNvPr id="23" name="Title 14">
            <a:extLst>
              <a:ext uri="{FF2B5EF4-FFF2-40B4-BE49-F238E27FC236}">
                <a16:creationId xmlns:a16="http://schemas.microsoft.com/office/drawing/2014/main" id="{9BB56922-68F0-E24B-0003-353E41C6039F}"/>
              </a:ext>
            </a:extLst>
          </p:cNvPr>
          <p:cNvSpPr txBox="1">
            <a:spLocks/>
          </p:cNvSpPr>
          <p:nvPr/>
        </p:nvSpPr>
        <p:spPr>
          <a:xfrm>
            <a:off x="6423016" y="796204"/>
            <a:ext cx="1358715" cy="4496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/>
              <a:t>Normal</a:t>
            </a:r>
          </a:p>
        </p:txBody>
      </p:sp>
      <p:sp>
        <p:nvSpPr>
          <p:cNvPr id="24" name="Title 14">
            <a:extLst>
              <a:ext uri="{FF2B5EF4-FFF2-40B4-BE49-F238E27FC236}">
                <a16:creationId xmlns:a16="http://schemas.microsoft.com/office/drawing/2014/main" id="{870CE786-9B0F-8FA5-5D16-E3D57CDDDF39}"/>
              </a:ext>
            </a:extLst>
          </p:cNvPr>
          <p:cNvSpPr txBox="1">
            <a:spLocks/>
          </p:cNvSpPr>
          <p:nvPr/>
        </p:nvSpPr>
        <p:spPr>
          <a:xfrm>
            <a:off x="6426121" y="3729139"/>
            <a:ext cx="1358715" cy="4496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/>
              <a:t>Stone</a:t>
            </a:r>
          </a:p>
        </p:txBody>
      </p:sp>
    </p:spTree>
    <p:extLst>
      <p:ext uri="{BB962C8B-B14F-4D97-AF65-F5344CB8AC3E}">
        <p14:creationId xmlns:p14="http://schemas.microsoft.com/office/powerpoint/2010/main" val="560021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2048" y="307911"/>
            <a:ext cx="8247904" cy="735690"/>
          </a:xfrm>
        </p:spPr>
        <p:txBody>
          <a:bodyPr/>
          <a:lstStyle/>
          <a:p>
            <a:pPr algn="ctr"/>
            <a:r>
              <a:rPr lang="en-US" dirty="0"/>
              <a:t>Convolutional Neural Network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6C3F33B4-F818-9E1E-F846-555A04A50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76" y="1390905"/>
            <a:ext cx="10819047" cy="40761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2ECEE12-9809-384C-C39E-A29C093E69E7}"/>
              </a:ext>
            </a:extLst>
          </p:cNvPr>
          <p:cNvSpPr/>
          <p:nvPr/>
        </p:nvSpPr>
        <p:spPr>
          <a:xfrm>
            <a:off x="9911539" y="3059668"/>
            <a:ext cx="140294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24779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6463" y="196900"/>
            <a:ext cx="9324213" cy="735690"/>
          </a:xfrm>
        </p:spPr>
        <p:txBody>
          <a:bodyPr/>
          <a:lstStyle/>
          <a:p>
            <a:pPr algn="ctr"/>
            <a:r>
              <a:rPr lang="en-US" sz="4000" dirty="0"/>
              <a:t>Layers in Convolutional Neural Network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59AEA-C207-2B59-7C58-F489025A3D98}"/>
              </a:ext>
            </a:extLst>
          </p:cNvPr>
          <p:cNvSpPr txBox="1"/>
          <p:nvPr/>
        </p:nvSpPr>
        <p:spPr>
          <a:xfrm>
            <a:off x="517625" y="1039899"/>
            <a:ext cx="103058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CNN has multiple hidden layers which helps in extracting features and classification of images: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EBF79C-9DE9-D20B-F092-31BAC603ABE4}"/>
              </a:ext>
            </a:extLst>
          </p:cNvPr>
          <p:cNvSpPr/>
          <p:nvPr/>
        </p:nvSpPr>
        <p:spPr>
          <a:xfrm>
            <a:off x="517624" y="1733185"/>
            <a:ext cx="266213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Convolutional 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C9D462-2620-9163-FEB6-398A81D1DD20}"/>
              </a:ext>
            </a:extLst>
          </p:cNvPr>
          <p:cNvSpPr/>
          <p:nvPr/>
        </p:nvSpPr>
        <p:spPr>
          <a:xfrm>
            <a:off x="1046602" y="2118879"/>
            <a:ext cx="208454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Several Filters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706E6-2454-6211-27E6-73F005C5ACFC}"/>
              </a:ext>
            </a:extLst>
          </p:cNvPr>
          <p:cNvSpPr/>
          <p:nvPr/>
        </p:nvSpPr>
        <p:spPr>
          <a:xfrm>
            <a:off x="1048628" y="2565944"/>
            <a:ext cx="385945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Extract convolutional Features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07CCCC-0B8B-122C-E227-213FE1A97147}"/>
              </a:ext>
            </a:extLst>
          </p:cNvPr>
          <p:cNvSpPr/>
          <p:nvPr/>
        </p:nvSpPr>
        <p:spPr>
          <a:xfrm>
            <a:off x="517624" y="3013009"/>
            <a:ext cx="422231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ReLU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Layer (Rectified Linear Unit)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436ED1-293E-3807-6614-6DEA0F235B95}"/>
              </a:ext>
            </a:extLst>
          </p:cNvPr>
          <p:cNvSpPr/>
          <p:nvPr/>
        </p:nvSpPr>
        <p:spPr>
          <a:xfrm>
            <a:off x="598479" y="3489123"/>
            <a:ext cx="359630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Element Wise Operation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6155DC-0375-ABFC-DF2D-69DA47DCEDBD}"/>
              </a:ext>
            </a:extLst>
          </p:cNvPr>
          <p:cNvSpPr/>
          <p:nvPr/>
        </p:nvSpPr>
        <p:spPr>
          <a:xfrm>
            <a:off x="1046602" y="3865980"/>
            <a:ext cx="359758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Maps negative pixels to zero</a:t>
            </a:r>
          </a:p>
        </p:txBody>
      </p:sp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36A98BA7-4841-5F7A-8A58-76EA965B1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989" y="3429000"/>
            <a:ext cx="3596306" cy="31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2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7" grpId="0"/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6463" y="130629"/>
            <a:ext cx="9324213" cy="735690"/>
          </a:xfrm>
        </p:spPr>
        <p:txBody>
          <a:bodyPr/>
          <a:lstStyle/>
          <a:p>
            <a:pPr algn="ctr"/>
            <a:r>
              <a:rPr lang="en-US" sz="4000" dirty="0"/>
              <a:t>Layers in Convolutional Neural Network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A670E1-BAE0-DEC5-31B8-0D8A4A2BBE2E}"/>
              </a:ext>
            </a:extLst>
          </p:cNvPr>
          <p:cNvSpPr/>
          <p:nvPr/>
        </p:nvSpPr>
        <p:spPr>
          <a:xfrm>
            <a:off x="871241" y="958744"/>
            <a:ext cx="202138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Pooling  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05FDE7-81F1-CE4F-0E94-E1119F28FB68}"/>
              </a:ext>
            </a:extLst>
          </p:cNvPr>
          <p:cNvSpPr/>
          <p:nvPr/>
        </p:nvSpPr>
        <p:spPr>
          <a:xfrm>
            <a:off x="1136463" y="1358854"/>
            <a:ext cx="686367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Convolutional Layer  also records the precise location of features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6A28CE-AEDF-E4FC-A7BA-ED021AEB6BBF}"/>
              </a:ext>
            </a:extLst>
          </p:cNvPr>
          <p:cNvSpPr/>
          <p:nvPr/>
        </p:nvSpPr>
        <p:spPr>
          <a:xfrm>
            <a:off x="1136463" y="1691813"/>
            <a:ext cx="204620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Down-Sampling</a:t>
            </a:r>
          </a:p>
        </p:txBody>
      </p:sp>
      <p:pic>
        <p:nvPicPr>
          <p:cNvPr id="11" name="Picture 10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3E96322D-3953-1B40-917C-A4899DCD6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999" y="2277463"/>
            <a:ext cx="3812601" cy="1591125"/>
          </a:xfrm>
          <a:prstGeom prst="rect">
            <a:avLst/>
          </a:prstGeom>
        </p:spPr>
      </p:pic>
      <p:pic>
        <p:nvPicPr>
          <p:cNvPr id="14" name="Picture 13" descr="Chart&#10;&#10;Description automatically generated with low confidence">
            <a:extLst>
              <a:ext uri="{FF2B5EF4-FFF2-40B4-BE49-F238E27FC236}">
                <a16:creationId xmlns:a16="http://schemas.microsoft.com/office/drawing/2014/main" id="{B42571C2-EB86-99E1-0C3A-A83EE6E3E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664" y="4237920"/>
            <a:ext cx="7419708" cy="24231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3B1D6FA-2D34-B266-70E5-0011BC34591C}"/>
              </a:ext>
            </a:extLst>
          </p:cNvPr>
          <p:cNvSpPr/>
          <p:nvPr/>
        </p:nvSpPr>
        <p:spPr>
          <a:xfrm>
            <a:off x="1136462" y="4475794"/>
            <a:ext cx="1901355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The Picture So far</a:t>
            </a:r>
          </a:p>
        </p:txBody>
      </p:sp>
    </p:spTree>
    <p:extLst>
      <p:ext uri="{BB962C8B-B14F-4D97-AF65-F5344CB8AC3E}">
        <p14:creationId xmlns:p14="http://schemas.microsoft.com/office/powerpoint/2010/main" val="227878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6463" y="130629"/>
            <a:ext cx="9324213" cy="735690"/>
          </a:xfrm>
        </p:spPr>
        <p:txBody>
          <a:bodyPr/>
          <a:lstStyle/>
          <a:p>
            <a:pPr algn="ctr"/>
            <a:r>
              <a:rPr lang="en-US" sz="4000" dirty="0"/>
              <a:t>Layers in Convolutional Neural Network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3E305-6365-4345-8BD1-4A31C61D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/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7A3FF-ED32-4C4A-A21F-848A3BF6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977813-E7F2-00D9-4B0F-F0C2858D317B}"/>
              </a:ext>
            </a:extLst>
          </p:cNvPr>
          <p:cNvSpPr/>
          <p:nvPr/>
        </p:nvSpPr>
        <p:spPr>
          <a:xfrm>
            <a:off x="871241" y="943263"/>
            <a:ext cx="225311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Flattening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8CDA44-1764-90B0-5147-1FBA532AAFE9}"/>
              </a:ext>
            </a:extLst>
          </p:cNvPr>
          <p:cNvSpPr/>
          <p:nvPr/>
        </p:nvSpPr>
        <p:spPr>
          <a:xfrm>
            <a:off x="1364743" y="1311906"/>
            <a:ext cx="427527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Converts 2D array to 1D feature Vector</a:t>
            </a:r>
          </a:p>
        </p:txBody>
      </p:sp>
      <p:pic>
        <p:nvPicPr>
          <p:cNvPr id="13" name="Picture 12" descr="Chart&#10;&#10;Description automatically generated">
            <a:extLst>
              <a:ext uri="{FF2B5EF4-FFF2-40B4-BE49-F238E27FC236}">
                <a16:creationId xmlns:a16="http://schemas.microsoft.com/office/drawing/2014/main" id="{95C05DA1-2330-A743-8740-C6DAAF47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13" y="1837284"/>
            <a:ext cx="4542930" cy="277563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C94D414-AEDC-6846-9DF3-684D92B71CD8}"/>
              </a:ext>
            </a:extLst>
          </p:cNvPr>
          <p:cNvSpPr/>
          <p:nvPr/>
        </p:nvSpPr>
        <p:spPr>
          <a:xfrm>
            <a:off x="1061679" y="4766116"/>
            <a:ext cx="187224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Dense Layer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E9D580-6D1E-1BE1-C3A4-950955C8704A}"/>
              </a:ext>
            </a:extLst>
          </p:cNvPr>
          <p:cNvSpPr/>
          <p:nvPr/>
        </p:nvSpPr>
        <p:spPr>
          <a:xfrm>
            <a:off x="1364743" y="5134759"/>
            <a:ext cx="558005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Classification based on output of  convolution layers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2BC956-3EF5-14EE-D7CC-4629967CD3E0}"/>
              </a:ext>
            </a:extLst>
          </p:cNvPr>
          <p:cNvSpPr/>
          <p:nvPr/>
        </p:nvSpPr>
        <p:spPr>
          <a:xfrm>
            <a:off x="1395845" y="5521192"/>
            <a:ext cx="487024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 requires 1D that’s why flatten layer is used</a:t>
            </a:r>
          </a:p>
        </p:txBody>
      </p:sp>
    </p:spTree>
    <p:extLst>
      <p:ext uri="{BB962C8B-B14F-4D97-AF65-F5344CB8AC3E}">
        <p14:creationId xmlns:p14="http://schemas.microsoft.com/office/powerpoint/2010/main" val="250371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6463" y="130629"/>
            <a:ext cx="9324213" cy="735690"/>
          </a:xfrm>
        </p:spPr>
        <p:txBody>
          <a:bodyPr/>
          <a:lstStyle/>
          <a:p>
            <a:pPr algn="ctr"/>
            <a:r>
              <a:rPr lang="en-US" sz="4000" dirty="0"/>
              <a:t>Layers in Convolutional Neural Network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3E305-6365-4345-8BD1-4A31C61D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/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7A3FF-ED32-4C4A-A21F-848A3BF6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977813-E7F2-00D9-4B0F-F0C2858D317B}"/>
              </a:ext>
            </a:extLst>
          </p:cNvPr>
          <p:cNvSpPr/>
          <p:nvPr/>
        </p:nvSpPr>
        <p:spPr>
          <a:xfrm>
            <a:off x="940942" y="943263"/>
            <a:ext cx="211372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Dropout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8CDA44-1764-90B0-5147-1FBA532AAFE9}"/>
              </a:ext>
            </a:extLst>
          </p:cNvPr>
          <p:cNvSpPr/>
          <p:nvPr/>
        </p:nvSpPr>
        <p:spPr>
          <a:xfrm>
            <a:off x="1354068" y="1343373"/>
            <a:ext cx="526701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Nullifies contribution of some neurons randomly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DA3441-16AF-05BA-EAA9-A7926BFFC4C3}"/>
              </a:ext>
            </a:extLst>
          </p:cNvPr>
          <p:cNvSpPr/>
          <p:nvPr/>
        </p:nvSpPr>
        <p:spPr>
          <a:xfrm>
            <a:off x="1353259" y="1728918"/>
            <a:ext cx="241405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Avoid overfitting</a:t>
            </a: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2D7B821D-C062-139C-A07F-FE17B4E6F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896" y="2483795"/>
            <a:ext cx="8632802" cy="31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2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6463" y="130629"/>
            <a:ext cx="9324213" cy="735690"/>
          </a:xfrm>
        </p:spPr>
        <p:txBody>
          <a:bodyPr/>
          <a:lstStyle/>
          <a:p>
            <a:pPr algn="ctr"/>
            <a:r>
              <a:rPr lang="en-US" sz="4000" dirty="0"/>
              <a:t>Layers in Convolutional Neural Network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3E305-6365-4345-8BD1-4A31C61D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/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7A3FF-ED32-4C4A-A21F-848A3BF6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9D87F1-C1AC-11D4-B583-594DA97C7BFB}"/>
              </a:ext>
            </a:extLst>
          </p:cNvPr>
          <p:cNvSpPr/>
          <p:nvPr/>
        </p:nvSpPr>
        <p:spPr>
          <a:xfrm>
            <a:off x="828975" y="1058359"/>
            <a:ext cx="202933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Sigmoid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552D54-9B5F-C778-3091-2703CF07355D}"/>
              </a:ext>
            </a:extLst>
          </p:cNvPr>
          <p:cNvSpPr/>
          <p:nvPr/>
        </p:nvSpPr>
        <p:spPr>
          <a:xfrm>
            <a:off x="1241292" y="1505909"/>
            <a:ext cx="402616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Maps values in the range of 0 and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81CB79-7ED3-7A03-AE83-4BD6DBB16FD8}"/>
              </a:ext>
            </a:extLst>
          </p:cNvPr>
          <p:cNvSpPr/>
          <p:nvPr/>
        </p:nvSpPr>
        <p:spPr>
          <a:xfrm>
            <a:off x="1241292" y="1875241"/>
            <a:ext cx="529779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As our classification is binary(Normal and Stone)</a:t>
            </a:r>
          </a:p>
        </p:txBody>
      </p:sp>
      <p:pic>
        <p:nvPicPr>
          <p:cNvPr id="13" name="Picture 12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F8E66051-88C1-D920-FFBF-C70B68FBB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150" y="2514831"/>
            <a:ext cx="3645727" cy="316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0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9C2179-AA66-9A13-4DBE-0FA1ED85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10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3A744-7BDD-E1DD-5C30-E83FCF02B4ED}"/>
              </a:ext>
            </a:extLst>
          </p:cNvPr>
          <p:cNvSpPr txBox="1"/>
          <p:nvPr/>
        </p:nvSpPr>
        <p:spPr>
          <a:xfrm>
            <a:off x="326572" y="320903"/>
            <a:ext cx="1111275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keras.models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Sequential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keras.layers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Dense, Conv2D, MaxPooling2D, Dropout, Flatten, Activation</a:t>
            </a: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Sequential()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#Adding convolutional layers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(Conv2D(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input_shape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(Activation(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(MaxPooling2D(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#Adding a second convolutional layer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(Conv2D(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(Activation(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(MaxPooling2D(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(Flatten())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converts our feature maps to 1D feature vectors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(Dense(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#To combine neurons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(Activation(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(Dropout(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#To avoid overfitting randomly drop some neurons</a:t>
            </a:r>
            <a:endParaRPr lang="en-US" b="0" dirty="0">
              <a:solidFill>
                <a:srgbClr val="3C644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(Dense(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(Activation(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'sigmoid’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972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5938" y="3056172"/>
            <a:ext cx="2920125" cy="74565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89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811A92-D464-4AC4-A396-BA73B10CEEAC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schemas.microsoft.com/sharepoint/v3"/>
    <ds:schemaRef ds:uri="http://schemas.openxmlformats.org/package/2006/metadata/core-properties"/>
    <ds:schemaRef ds:uri="230e9df3-be65-4c73-a93b-d1236ebd677e"/>
    <ds:schemaRef ds:uri="http://www.w3.org/XML/1998/namespace"/>
    <ds:schemaRef ds:uri="16c05727-aa75-4e4a-9b5f-8a80a1165891"/>
    <ds:schemaRef ds:uri="71af3243-3dd4-4a8d-8c0d-dd76da1f02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{9BB7919C-1120-48C3-AC9D-CA244E92DA91}tf33713516_win32</Template>
  <TotalTime>1116</TotalTime>
  <Words>407</Words>
  <Application>Microsoft Office PowerPoint</Application>
  <PresentationFormat>Widescreen</PresentationFormat>
  <Paragraphs>78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Calisto MT</vt:lpstr>
      <vt:lpstr>Cambria</vt:lpstr>
      <vt:lpstr>Consolas</vt:lpstr>
      <vt:lpstr>Gill Sans MT</vt:lpstr>
      <vt:lpstr>Walbaum Display</vt:lpstr>
      <vt:lpstr>Wingdings</vt:lpstr>
      <vt:lpstr>3DFloatVTI</vt:lpstr>
      <vt:lpstr>Kidney Stone Detection</vt:lpstr>
      <vt:lpstr>Agenda</vt:lpstr>
      <vt:lpstr>Dataset Collection</vt:lpstr>
      <vt:lpstr>Convolutional Neural Network </vt:lpstr>
      <vt:lpstr>Layers in Convolutional Neural Network </vt:lpstr>
      <vt:lpstr>Layers in Convolutional Neural Network </vt:lpstr>
      <vt:lpstr>Layers in Convolutional Neural Network </vt:lpstr>
      <vt:lpstr>Layers in Convolutional Neural Network </vt:lpstr>
      <vt:lpstr>Layers in Convolutional Neural Network 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Kidney Stone Detection</dc:title>
  <dc:creator>SP20-BCS-012</dc:creator>
  <cp:lastModifiedBy>Junaid ALI Bhati</cp:lastModifiedBy>
  <cp:revision>21</cp:revision>
  <dcterms:created xsi:type="dcterms:W3CDTF">2022-12-05T09:13:36Z</dcterms:created>
  <dcterms:modified xsi:type="dcterms:W3CDTF">2025-11-27T12:11:01Z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